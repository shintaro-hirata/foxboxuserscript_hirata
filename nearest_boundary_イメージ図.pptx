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204000" cy="687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A60"/>
                </a:solidFill>
                <a:latin typeface="Meiryo"/>
              </a:rPr>
              <a:t>nearest_boundary_edge_distance_m の計算イメージ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72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Meiryo"/>
              </a:rPr>
              <a:t>全セグメント (92個) の全白線 (left + right = 184本) からターゲットに最も近い白線を探索</a:t>
            </a:r>
          </a:p>
        </p:txBody>
      </p:sp>
      <p:sp>
        <p:nvSpPr>
          <p:cNvPr id="4" name="Rectangle 3"/>
          <p:cNvSpPr/>
          <p:nvPr/>
        </p:nvSpPr>
        <p:spPr>
          <a:xfrm>
            <a:off x="1080000" y="1440000"/>
            <a:ext cx="9720000" cy="3960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0" y="11880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0E0E0"/>
                </a:solidFill>
                <a:latin typeface="Meiryo"/>
              </a:rPr>
              <a:t>第1車線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40000" y="11880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0E0E0"/>
                </a:solidFill>
                <a:latin typeface="Meiryo"/>
              </a:rPr>
              <a:t>第2車線 (自車線)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0" y="11880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0E0E0"/>
                </a:solidFill>
                <a:latin typeface="Meiryo"/>
              </a:rPr>
              <a:t>路肩側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620000" y="1440000"/>
            <a:ext cx="0" cy="396000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60000" y="1440000"/>
            <a:ext cx="0" cy="3960000"/>
          </a:xfrm>
          <a:prstGeom prst="line">
            <a:avLst/>
          </a:prstGeom>
          <a:ln w="25400">
            <a:solidFill>
              <a:srgbClr val="FFFF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300000" y="1440000"/>
            <a:ext cx="0" cy="3960000"/>
          </a:xfrm>
          <a:prstGeom prst="line">
            <a:avLst/>
          </a:prstGeom>
          <a:ln w="25400">
            <a:solidFill>
              <a:srgbClr val="FFFF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640000" y="1440000"/>
            <a:ext cx="0" cy="396000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52000" y="5472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99999"/>
                </a:solidFill>
                <a:latin typeface="Meiryo"/>
              </a:rPr>
              <a:t>seg A
left_boundary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0000" y="5472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99999"/>
                </a:solidFill>
                <a:latin typeface="Meiryo"/>
              </a:rPr>
              <a:t>seg B
right_boundary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0000" y="5688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99999"/>
                </a:solidFill>
                <a:latin typeface="Meiryo"/>
              </a:rPr>
              <a:t>= seg C
left_boundary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000" y="5472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99999"/>
                </a:solidFill>
                <a:latin typeface="Meiryo"/>
              </a:rPr>
              <a:t>seg C
right_boundary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0000" y="5472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99999"/>
                </a:solidFill>
                <a:latin typeface="Meiryo"/>
              </a:rPr>
              <a:t>seg D
right_boundary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90000" y="1980000"/>
            <a:ext cx="900000" cy="1800000"/>
          </a:xfrm>
          <a:prstGeom prst="rect">
            <a:avLst/>
          </a:prstGeom>
          <a:solidFill>
            <a:srgbClr val="FFA000"/>
          </a:solidFill>
          <a:ln w="19050">
            <a:solidFill>
              <a:srgbClr val="FF6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ターゲット
車両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80000" y="3600000"/>
            <a:ext cx="720000" cy="1440000"/>
          </a:xfrm>
          <a:prstGeom prst="rect">
            <a:avLst/>
          </a:prstGeom>
          <a:solidFill>
            <a:srgbClr val="40A040"/>
          </a:solidFill>
          <a:ln w="19050">
            <a:solidFill>
              <a:srgbClr val="208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自車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26000" y="2880000"/>
            <a:ext cx="198000" cy="0"/>
          </a:xfrm>
          <a:prstGeom prst="line">
            <a:avLst/>
          </a:prstGeom>
          <a:ln w="38100">
            <a:solidFill>
              <a:srgbClr val="E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762000" y="2448000"/>
            <a:ext cx="1620000" cy="360000"/>
          </a:xfrm>
          <a:prstGeom prst="rect">
            <a:avLst/>
          </a:prstGeom>
          <a:solidFill>
            <a:srgbClr val="E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Meiryo"/>
              </a:rPr>
              <a:t>nearest_boundary
edge_distance_m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1656000" y="2340000"/>
            <a:ext cx="1098000" cy="0"/>
          </a:xfrm>
          <a:prstGeom prst="line">
            <a:avLst/>
          </a:prstGeom>
          <a:ln w="12700">
            <a:solidFill>
              <a:srgbClr val="9999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800000" y="2052001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  <a:latin typeface="Meiryo"/>
              </a:rPr>
              <a:t>他の白線
(より遠い)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726000" y="3420000"/>
            <a:ext cx="2538000" cy="0"/>
          </a:xfrm>
          <a:prstGeom prst="line">
            <a:avLst/>
          </a:prstGeom>
          <a:ln w="12700">
            <a:solidFill>
              <a:srgbClr val="9999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500000" y="3492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  <a:latin typeface="Meiryo"/>
              </a:rPr>
              <a:t>他の白線
(より遠い)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80000" y="1800000"/>
            <a:ext cx="3960000" cy="126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0F2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8000" y="1872000"/>
            <a:ext cx="37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1A"/>
                </a:solidFill>
                <a:latin typeface="Meiryo"/>
              </a:rPr>
              <a:t>DOR で自車が第2車線に移った場合も:</a:t>
            </a:r>
          </a:p>
          <a:p>
            <a:r>
              <a:rPr sz="400" b="0">
                <a:solidFill>
                  <a:srgbClr val="999999"/>
                </a:solidFill>
                <a:latin typeface="Meiryo"/>
              </a:rPr>
              <a:t/>
            </a:r>
          </a:p>
          <a:p>
            <a:r>
              <a:rPr sz="900" b="0">
                <a:solidFill>
                  <a:srgbClr val="1A1A1A"/>
                </a:solidFill>
                <a:latin typeface="Meiryo"/>
              </a:rPr>
              <a:t>全92セグメントの全白線を走査するため</a:t>
            </a:r>
          </a:p>
          <a:p>
            <a:r>
              <a:rPr sz="900" b="0">
                <a:solidFill>
                  <a:srgbClr val="1A1A1A"/>
                </a:solidFill>
                <a:latin typeface="Meiryo"/>
              </a:rPr>
              <a:t>自車の車線に関係なく、ターゲットに</a:t>
            </a:r>
          </a:p>
          <a:p>
            <a:r>
              <a:rPr sz="900" b="1">
                <a:solidFill>
                  <a:srgbClr val="E04040"/>
                </a:solidFill>
                <a:latin typeface="Meiryo"/>
              </a:rPr>
              <a:t>最も近い白線が選ばれる</a:t>
            </a:r>
          </a:p>
          <a:p>
            <a:r>
              <a:rPr sz="400" b="0">
                <a:solidFill>
                  <a:srgbClr val="999999"/>
                </a:solidFill>
                <a:latin typeface="Meiryo"/>
              </a:rPr>
              <a:t/>
            </a:r>
          </a:p>
          <a:p>
            <a:r>
              <a:rPr sz="800" b="1">
                <a:solidFill>
                  <a:srgbClr val="0F2A60"/>
                </a:solidFill>
                <a:latin typeface="Meiryo"/>
              </a:rPr>
              <a:t>→ nearest_boundary_edge_distance_m</a:t>
            </a:r>
          </a:p>
          <a:p>
            <a:r>
              <a:rPr sz="800" b="0">
                <a:solidFill>
                  <a:srgbClr val="0F2A60"/>
                </a:solidFill>
                <a:latin typeface="Meiryo"/>
              </a:rPr>
              <a:t>  は常にターゲット基準の最短距離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0000" y="6120000"/>
            <a:ext cx="11484000" cy="432000"/>
          </a:xfrm>
          <a:prstGeom prst="rect">
            <a:avLst/>
          </a:prstGeom>
          <a:solidFill>
            <a:srgbClr val="0F2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nearest_boundary_edge_distance_m = 全184本の白線からターゲット車両端への最短2D距離 (自車位置に依存しない)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